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ba5d046-4466-c7f9-6a15-71f9ad41f645}">
          <p14:sldIdLst>
            <p14:sldId id="256"/>
            <p14:sldId id="257"/>
          </p14:sldIdLst>
        </p14:section>
        <p14:section name="Insights" id="{5187b6a3-abe4-e93e-dc08-2ed025087e35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ata quality" id="{c565cc61-517b-9bc9-bf5b-78d5cf69e974}">
          <p14:sldIdLst>
            <p14:sldId id="264"/>
          </p14:sldIdLst>
        </p14:section>
        <p14:section name="Recommendations" id="{fbd9a092-3052-d31b-6480-ec9b77d32113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44"/>
                </a:solidFill>
                <a:latin typeface="+mn-lt"/>
              </a:rPr>
              <a:t>Occupancy by day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Occupancy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Weekday</c:v>
                  </c:pt>
                  <c:pt idx="1">
                    <c:v>Weekend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51.3</c:v>
                </c:pt>
                <c:pt idx="1">
                  <c:v>73.6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6E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44"/>
                </a:solidFill>
                <a:latin typeface="+mn-lt"/>
              </a:rPr>
              <a:t>Revenue realized by city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&quot;₹&quot;0.0&quot; Cr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Delhi</c:v>
                  </c:pt>
                  <c:pt idx="1">
                    <c:v>Hyderabad</c:v>
                  </c:pt>
                  <c:pt idx="2">
                    <c:v>Bangalore</c:v>
                  </c:pt>
                  <c:pt idx="3">
                    <c:v>Mumbai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29.4</c:v>
                </c:pt>
                <c:pt idx="1">
                  <c:v>32.5</c:v>
                </c:pt>
                <c:pt idx="2">
                  <c:v>42</c:v>
                </c:pt>
                <c:pt idx="3">
                  <c:v>66.9</c:v>
                </c:pt>
              </c:numCache>
            </c:numRef>
          </c:val>
        </c:ser>
        <c:dLbls>
          <c:numFmt formatCode="&quot;₹&quot;0.0&quot; Cr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44"/>
                </a:solidFill>
                <a:latin typeface="+mn-lt"/>
              </a:rPr>
              <a:t>25 properties: average rating vs occupancy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Occupancy %</c:v>
                </c:pt>
              </c:strCache>
            </c:strRef>
          </c:tx>
          <c:spPr>
            <a:solidFill>
              <a:srgbClr val="1F2A44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1F2A44"/>
              </a:solidFill>
              <a:ln w="9525" cap="flat">
                <a:solidFill>
                  <a:srgbClr val="1F2A44"/>
                </a:solidFill>
                <a:prstDash val="solid"/>
                <a:round/>
              </a:ln>
              <a:effectLst/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4.25</c:v>
                </c:pt>
                <c:pt idx="1">
                  <c:v>4.32</c:v>
                </c:pt>
                <c:pt idx="2">
                  <c:v>3.01</c:v>
                </c:pt>
                <c:pt idx="3">
                  <c:v>4.28</c:v>
                </c:pt>
                <c:pt idx="4">
                  <c:v>3.07</c:v>
                </c:pt>
                <c:pt idx="5">
                  <c:v>4.27</c:v>
                </c:pt>
                <c:pt idx="6">
                  <c:v>3.05</c:v>
                </c:pt>
                <c:pt idx="7">
                  <c:v>4.32</c:v>
                </c:pt>
                <c:pt idx="8">
                  <c:v>3.04</c:v>
                </c:pt>
                <c:pt idx="9">
                  <c:v>4.3</c:v>
                </c:pt>
                <c:pt idx="10">
                  <c:v>2.36</c:v>
                </c:pt>
                <c:pt idx="11">
                  <c:v>4.29</c:v>
                </c:pt>
                <c:pt idx="12">
                  <c:v>2.3</c:v>
                </c:pt>
                <c:pt idx="13">
                  <c:v>3.07</c:v>
                </c:pt>
                <c:pt idx="14">
                  <c:v>2.33</c:v>
                </c:pt>
                <c:pt idx="15">
                  <c:v>4.26</c:v>
                </c:pt>
                <c:pt idx="16">
                  <c:v>4.25</c:v>
                </c:pt>
                <c:pt idx="17">
                  <c:v>4.3</c:v>
                </c:pt>
                <c:pt idx="18">
                  <c:v>3.07</c:v>
                </c:pt>
                <c:pt idx="19">
                  <c:v>2.36</c:v>
                </c:pt>
                <c:pt idx="20">
                  <c:v>3.05</c:v>
                </c:pt>
                <c:pt idx="21">
                  <c:v>4.28</c:v>
                </c:pt>
                <c:pt idx="22">
                  <c:v>3.08</c:v>
                </c:pt>
                <c:pt idx="23">
                  <c:v>4.28</c:v>
                </c:pt>
                <c:pt idx="24">
                  <c:v>3.02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65.9</c:v>
                </c:pt>
                <c:pt idx="1">
                  <c:v>65.9</c:v>
                </c:pt>
                <c:pt idx="2">
                  <c:v>53.7</c:v>
                </c:pt>
                <c:pt idx="3">
                  <c:v>65.8</c:v>
                </c:pt>
                <c:pt idx="4">
                  <c:v>53.5</c:v>
                </c:pt>
                <c:pt idx="5">
                  <c:v>66.3</c:v>
                </c:pt>
                <c:pt idx="6">
                  <c:v>53.6</c:v>
                </c:pt>
                <c:pt idx="7">
                  <c:v>66.1</c:v>
                </c:pt>
                <c:pt idx="8">
                  <c:v>53.1</c:v>
                </c:pt>
                <c:pt idx="9">
                  <c:v>66.3</c:v>
                </c:pt>
                <c:pt idx="10">
                  <c:v>44.8</c:v>
                </c:pt>
                <c:pt idx="11">
                  <c:v>66.2</c:v>
                </c:pt>
                <c:pt idx="12">
                  <c:v>44.6</c:v>
                </c:pt>
                <c:pt idx="13">
                  <c:v>53.5</c:v>
                </c:pt>
                <c:pt idx="14">
                  <c:v>44.6</c:v>
                </c:pt>
                <c:pt idx="15">
                  <c:v>66.2</c:v>
                </c:pt>
                <c:pt idx="16">
                  <c:v>65.6</c:v>
                </c:pt>
                <c:pt idx="17">
                  <c:v>65.9</c:v>
                </c:pt>
                <c:pt idx="18">
                  <c:v>53</c:v>
                </c:pt>
                <c:pt idx="19">
                  <c:v>44.4</c:v>
                </c:pt>
                <c:pt idx="20">
                  <c:v>53.9</c:v>
                </c:pt>
                <c:pt idx="21">
                  <c:v>65.6</c:v>
                </c:pt>
                <c:pt idx="22">
                  <c:v>53.3</c:v>
                </c:pt>
                <c:pt idx="23">
                  <c:v>65.8</c:v>
                </c:pt>
                <c:pt idx="24">
                  <c:v>53.5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2"/>
                    </a:solidFill>
                    <a:latin typeface="Arial"/>
                  </a:rPr>
                  <a:t>Average guest rating</a:t>
                </a: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70"/>
          <c:min val="40"/>
        </c:scaling>
        <c:delete val="0"/>
        <c:axPos val="l"/>
        <c:majorGridlines>
          <c:spPr>
            <a:ln w="12700" cap="flat">
              <a:solidFill>
                <a:srgbClr val="E3E6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2"/>
                    </a:solidFill>
                    <a:latin typeface="Arial"/>
                  </a:rPr>
                  <a:t>Occupancy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44"/>
                </a:solidFill>
                <a:latin typeface="+mn-lt"/>
              </a:rPr>
              <a:t>Revenue generated vs realized (₹ 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Generated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&quot;₹&quot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Cancelled</c:v>
                  </c:pt>
                  <c:pt idx="1">
                    <c:v>Checked out</c:v>
                  </c:pt>
                  <c:pt idx="2">
                    <c:v>No show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49.8</c:v>
                </c:pt>
                <c:pt idx="1">
                  <c:v>140.9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Realized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&quot;₹&quot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Cancelled</c:v>
                  </c:pt>
                  <c:pt idx="1">
                    <c:v>Checked out</c:v>
                  </c:pt>
                  <c:pt idx="2">
                    <c:v>No show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19.9</c:v>
                </c:pt>
                <c:pt idx="1">
                  <c:v>140.9</c:v>
                </c:pt>
                <c:pt idx="2">
                  <c:v>10</c:v>
                </c:pt>
              </c:numCache>
            </c:numRef>
          </c:val>
        </c:ser>
        <c:dLbls>
          <c:numFmt formatCode="&quot;₹&quot;0.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C"/>
              </a:solidFill>
              <a:prstDash val="solid"/>
              <a:round/>
            </a:ln>
          </c:spPr>
        </c:majorGridlines>
        <c:numFmt formatCode="&quot;₹&quot;0&quot; Cr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47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44"/>
                </a:solidFill>
                <a:latin typeface="+mn-lt"/>
              </a:rPr>
              <a:t>Share of bookings by platform (direct in gold)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bookings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direct offline</c:v>
                  </c:pt>
                  <c:pt idx="1">
                    <c:v>journey</c:v>
                  </c:pt>
                  <c:pt idx="2">
                    <c:v>tripster</c:v>
                  </c:pt>
                  <c:pt idx="3">
                    <c:v>direct online</c:v>
                  </c:pt>
                  <c:pt idx="4">
                    <c:v>logtrip</c:v>
                  </c:pt>
                  <c:pt idx="5">
                    <c:v>makeyourtrip</c:v>
                  </c:pt>
                  <c:pt idx="6">
                    <c:v>others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6</c:v>
                </c:pt>
                <c:pt idx="2">
                  <c:v>7.2</c:v>
                </c:pt>
                <c:pt idx="3">
                  <c:v>9.9</c:v>
                </c:pt>
                <c:pt idx="4">
                  <c:v>11</c:v>
                </c:pt>
                <c:pt idx="5">
                  <c:v>20</c:v>
                </c:pt>
                <c:pt idx="6">
                  <c:v>40.9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approached this dataset the way I'd approach an audit: check the data first, then trust the numbers. That turned out to matter. Two date issues in the course notebook were hiding almost a third of the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tables in a star schema: one row per booking, one row per property, room and day for occupancy, and three lookup tables for hotels, room classes and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is realized revenue: what the hotels actually collected, after cancellations. Occupancy is weighted, total rooms booked divided by total rooms available, not an average of daily percentages.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Weekdays hold 71% of available room-nights, so they're where the empty rooms are. The estimate multiplies extra bookings by the average realized revenue per booking, so it's a rough sizing, not a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Mumbai brings in 39% of revenue from 8 hotels. Delhi does more with less. Bangalore has the lowest ratings, at 3.41.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properties fall into three clear tiers. Correlation isn't proof that ratings cause occupancy, but the pattern is strong enough to make guest experience at the four low-rated hotels the first thing to investigate. Lifting them to the mid tier is worth roughly 3,400 bookings, about ₹4.3 Cr a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cancelled booking keeps exactly 40% of its value, and no-shows pay in full, so the policy is consistent. The cancellation rate is about 25% whichever platform the booking came from, so the fix lies in policy and guest engagement, not channel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Platforms don't differ in cancellations or ratings, so shifting bookings to direct channels mainly saves commission. The dataset doesn't include commission rates, so I haven't put a figure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part my audit background helped with. Nothing crashed. The code ran, and the charts looked reasonable. Only a reconciliation of totals showed that 31% of revenue was missing from the monthly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Weekdays and the low-rated hotels are the two biggest opportunities, and both are measurable. Cancellations and direct bookings need commission and policy data that isn't in this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my first hospitality project, and the most useful lesson came from my day job: the data looked fine until I reconciled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AtliQ Grands analysis · Saurabh 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AtliQ Grands: what 134,573 bookings reveal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Revenue and occupancy analysis · 25 hotels · 4 cities · May–July 2022</a:t>
            </a:r>
            <a:endParaRPr lang="en-US" sz="2000" dirty="0"/>
          </a:p>
        </p:txBody>
      </p:sp>
      <p:sp>
        <p:nvSpPr>
          <p:cNvPr id="4" name="byline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Saurabh S · October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Based on the AtliQ Hotels project from the CodeBasics Python course (fictional data)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data and how I approached it</a:t>
            </a:r>
            <a:endParaRPr lang="en-US" sz="3200" dirty="0"/>
          </a:p>
        </p:txBody>
      </p:sp>
      <p:sp>
        <p:nvSpPr>
          <p:cNvPr id="3" name="data stat 1 card"/>
          <p:cNvSpPr/>
          <p:nvPr/>
        </p:nvSpPr>
        <p:spPr>
          <a:xfrm>
            <a:off x="548640" y="146304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ata stat 1 value"/>
          <p:cNvSpPr txBox="1"/>
          <p:nvPr/>
        </p:nvSpPr>
        <p:spPr>
          <a:xfrm>
            <a:off x="777240" y="1645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600" dirty="0"/>
          </a:p>
        </p:txBody>
      </p:sp>
      <p:sp>
        <p:nvSpPr>
          <p:cNvPr id="5" name="data stat 1 label"/>
          <p:cNvSpPr txBox="1"/>
          <p:nvPr/>
        </p:nvSpPr>
        <p:spPr>
          <a:xfrm>
            <a:off x="777240" y="251460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properties</a:t>
            </a:r>
            <a:endParaRPr lang="en-US" sz="1400" dirty="0"/>
          </a:p>
        </p:txBody>
      </p:sp>
      <p:sp>
        <p:nvSpPr>
          <p:cNvPr id="6" name="data stat 2 card"/>
          <p:cNvSpPr/>
          <p:nvPr/>
        </p:nvSpPr>
        <p:spPr>
          <a:xfrm>
            <a:off x="3337560" y="146304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data stat 2 value"/>
          <p:cNvSpPr txBox="1"/>
          <p:nvPr/>
        </p:nvSpPr>
        <p:spPr>
          <a:xfrm>
            <a:off x="3566160" y="1645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8" name="data stat 2 label"/>
          <p:cNvSpPr txBox="1"/>
          <p:nvPr/>
        </p:nvSpPr>
        <p:spPr>
          <a:xfrm>
            <a:off x="3566160" y="251460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cities</a:t>
            </a:r>
            <a:endParaRPr lang="en-US" sz="1400" dirty="0"/>
          </a:p>
        </p:txBody>
      </p:sp>
      <p:sp>
        <p:nvSpPr>
          <p:cNvPr id="9" name="data stat 3 card"/>
          <p:cNvSpPr/>
          <p:nvPr/>
        </p:nvSpPr>
        <p:spPr>
          <a:xfrm>
            <a:off x="6126480" y="146304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ata stat 3 value"/>
          <p:cNvSpPr txBox="1"/>
          <p:nvPr/>
        </p:nvSpPr>
        <p:spPr>
          <a:xfrm>
            <a:off x="6355080" y="1645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3600" dirty="0"/>
          </a:p>
        </p:txBody>
      </p:sp>
      <p:sp>
        <p:nvSpPr>
          <p:cNvPr id="11" name="data stat 3 label"/>
          <p:cNvSpPr txBox="1"/>
          <p:nvPr/>
        </p:nvSpPr>
        <p:spPr>
          <a:xfrm>
            <a:off x="6355080" y="251460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days</a:t>
            </a:r>
            <a:endParaRPr lang="en-US" sz="1400" dirty="0"/>
          </a:p>
        </p:txBody>
      </p:sp>
      <p:sp>
        <p:nvSpPr>
          <p:cNvPr id="12" name="data stat 4 card"/>
          <p:cNvSpPr/>
          <p:nvPr/>
        </p:nvSpPr>
        <p:spPr>
          <a:xfrm>
            <a:off x="8915400" y="146304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ata stat 4 value"/>
          <p:cNvSpPr txBox="1"/>
          <p:nvPr/>
        </p:nvSpPr>
        <p:spPr>
          <a:xfrm>
            <a:off x="9144000" y="16459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134,573</a:t>
            </a:r>
            <a:endParaRPr lang="en-US" sz="3600" dirty="0"/>
          </a:p>
        </p:txBody>
      </p:sp>
      <p:sp>
        <p:nvSpPr>
          <p:cNvPr id="14" name="data stat 4 label"/>
          <p:cNvSpPr txBox="1"/>
          <p:nvPr/>
        </p:nvSpPr>
        <p:spPr>
          <a:xfrm>
            <a:off x="9144000" y="2514600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bookings</a:t>
            </a:r>
            <a:endParaRPr lang="en-US" sz="1400" dirty="0"/>
          </a:p>
        </p:txBody>
      </p:sp>
      <p:sp>
        <p:nvSpPr>
          <p:cNvPr id="15" name="step 1 icon circle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023360"/>
            <a:ext cx="274320" cy="274320"/>
          </a:xfrm>
          <a:prstGeom prst="rect">
            <a:avLst/>
          </a:prstGeom>
        </p:spPr>
      </p:pic>
      <p:sp>
        <p:nvSpPr>
          <p:cNvPr id="17" name="step 1 text"/>
          <p:cNvSpPr txBox="1"/>
          <p:nvPr/>
        </p:nvSpPr>
        <p:spPr>
          <a:xfrm>
            <a:off x="1280160" y="3840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Review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Profile every table and list the data issues</a:t>
            </a:r>
            <a:endParaRPr lang="en-US" sz="1600" dirty="0"/>
          </a:p>
        </p:txBody>
      </p:sp>
      <p:sp>
        <p:nvSpPr>
          <p:cNvPr id="18" name="step 2 icon circle"/>
          <p:cNvSpPr/>
          <p:nvPr/>
        </p:nvSpPr>
        <p:spPr>
          <a:xfrm>
            <a:off x="3337560" y="3886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4023360"/>
            <a:ext cx="274320" cy="274320"/>
          </a:xfrm>
          <a:prstGeom prst="rect">
            <a:avLst/>
          </a:prstGeom>
        </p:spPr>
      </p:pic>
      <p:sp>
        <p:nvSpPr>
          <p:cNvPr id="20" name="step 2 text"/>
          <p:cNvSpPr txBox="1"/>
          <p:nvPr/>
        </p:nvSpPr>
        <p:spPr>
          <a:xfrm>
            <a:off x="4069080" y="3840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Clean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Remove impossible rows and fix date formats</a:t>
            </a:r>
            <a:endParaRPr lang="en-US" sz="1600" dirty="0"/>
          </a:p>
        </p:txBody>
      </p:sp>
      <p:sp>
        <p:nvSpPr>
          <p:cNvPr id="21" name="step 3 icon circle"/>
          <p:cNvSpPr/>
          <p:nvPr/>
        </p:nvSpPr>
        <p:spPr>
          <a:xfrm>
            <a:off x="6126480" y="3886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023360"/>
            <a:ext cx="274320" cy="274320"/>
          </a:xfrm>
          <a:prstGeom prst="rect">
            <a:avLst/>
          </a:prstGeom>
        </p:spPr>
      </p:pic>
      <p:sp>
        <p:nvSpPr>
          <p:cNvPr id="23" name="step 3 text"/>
          <p:cNvSpPr txBox="1"/>
          <p:nvPr/>
        </p:nvSpPr>
        <p:spPr>
          <a:xfrm>
            <a:off x="6858000" y="3840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Measure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Weighted occupancy, RevPAR, realisation, channel mix</a:t>
            </a:r>
            <a:endParaRPr lang="en-US" sz="1600" dirty="0"/>
          </a:p>
        </p:txBody>
      </p:sp>
      <p:sp>
        <p:nvSpPr>
          <p:cNvPr id="24" name="step 4 icon circle"/>
          <p:cNvSpPr/>
          <p:nvPr/>
        </p:nvSpPr>
        <p:spPr>
          <a:xfrm>
            <a:off x="8915400" y="3886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4023360"/>
            <a:ext cx="274320" cy="274320"/>
          </a:xfrm>
          <a:prstGeom prst="rect">
            <a:avLst/>
          </a:prstGeom>
        </p:spPr>
      </p:pic>
      <p:sp>
        <p:nvSpPr>
          <p:cNvPr id="26" name="step 4 text"/>
          <p:cNvSpPr txBox="1"/>
          <p:nvPr/>
        </p:nvSpPr>
        <p:spPr>
          <a:xfrm>
            <a:off x="9646920" y="3840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4. Recommend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Size the opportunities and suggest next steps</a:t>
            </a:r>
            <a:endParaRPr lang="en-US" sz="1600" dirty="0"/>
          </a:p>
        </p:txBody>
      </p:sp>
      <p:sp>
        <p:nvSpPr>
          <p:cNvPr id="27" name="data note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Tables: bookings, daily aggregated bookings, hotels, rooms, dates, plus one week of August data appended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months at a glance</a:t>
            </a:r>
            <a:endParaRPr lang="en-US" sz="3200" dirty="0"/>
          </a:p>
        </p:txBody>
      </p:sp>
      <p:sp>
        <p:nvSpPr>
          <p:cNvPr id="3" name="kpi 1 card"/>
          <p:cNvSpPr/>
          <p:nvPr/>
        </p:nvSpPr>
        <p:spPr>
          <a:xfrm>
            <a:off x="548640" y="1371600"/>
            <a:ext cx="34747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kpi 1 value"/>
          <p:cNvSpPr txBox="1"/>
          <p:nvPr/>
        </p:nvSpPr>
        <p:spPr>
          <a:xfrm>
            <a:off x="777240" y="1554480"/>
            <a:ext cx="3017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₹170.9 Cr</a:t>
            </a:r>
            <a:endParaRPr lang="en-US" sz="3600" dirty="0"/>
          </a:p>
        </p:txBody>
      </p:sp>
      <p:sp>
        <p:nvSpPr>
          <p:cNvPr id="5" name="kpi 1 label"/>
          <p:cNvSpPr txBox="1"/>
          <p:nvPr/>
        </p:nvSpPr>
        <p:spPr>
          <a:xfrm>
            <a:off x="777240" y="25831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realized</a:t>
            </a:r>
            <a:endParaRPr lang="en-US" sz="1400" dirty="0"/>
          </a:p>
        </p:txBody>
      </p:sp>
      <p:sp>
        <p:nvSpPr>
          <p:cNvPr id="6" name="kpi 2 card"/>
          <p:cNvSpPr/>
          <p:nvPr/>
        </p:nvSpPr>
        <p:spPr>
          <a:xfrm>
            <a:off x="4297680" y="1371600"/>
            <a:ext cx="34747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kpi 2 value"/>
          <p:cNvSpPr txBox="1"/>
          <p:nvPr/>
        </p:nvSpPr>
        <p:spPr>
          <a:xfrm>
            <a:off x="4526280" y="1554480"/>
            <a:ext cx="3017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57.9%</a:t>
            </a:r>
            <a:endParaRPr lang="en-US" sz="3600" dirty="0"/>
          </a:p>
        </p:txBody>
      </p:sp>
      <p:sp>
        <p:nvSpPr>
          <p:cNvPr id="8" name="kpi 2 label"/>
          <p:cNvSpPr txBox="1"/>
          <p:nvPr/>
        </p:nvSpPr>
        <p:spPr>
          <a:xfrm>
            <a:off x="4526280" y="25831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occupancy (rooms booked ÷ available)</a:t>
            </a:r>
            <a:endParaRPr lang="en-US" sz="1400" dirty="0"/>
          </a:p>
        </p:txBody>
      </p:sp>
      <p:sp>
        <p:nvSpPr>
          <p:cNvPr id="9" name="kpi 3 card"/>
          <p:cNvSpPr/>
          <p:nvPr/>
        </p:nvSpPr>
        <p:spPr>
          <a:xfrm>
            <a:off x="8046720" y="1371600"/>
            <a:ext cx="34747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pi 3 value"/>
          <p:cNvSpPr txBox="1"/>
          <p:nvPr/>
        </p:nvSpPr>
        <p:spPr>
          <a:xfrm>
            <a:off x="8275320" y="1554480"/>
            <a:ext cx="3017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₹7,351</a:t>
            </a:r>
            <a:endParaRPr lang="en-US" sz="3600" dirty="0"/>
          </a:p>
        </p:txBody>
      </p:sp>
      <p:sp>
        <p:nvSpPr>
          <p:cNvPr id="11" name="kpi 3 label"/>
          <p:cNvSpPr txBox="1"/>
          <p:nvPr/>
        </p:nvSpPr>
        <p:spPr>
          <a:xfrm>
            <a:off x="8275320" y="25831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RevPAR (revenue per available room)</a:t>
            </a:r>
            <a:endParaRPr lang="en-US" sz="1400" dirty="0"/>
          </a:p>
        </p:txBody>
      </p:sp>
      <p:sp>
        <p:nvSpPr>
          <p:cNvPr id="12" name="kpi 4 card"/>
          <p:cNvSpPr/>
          <p:nvPr/>
        </p:nvSpPr>
        <p:spPr>
          <a:xfrm>
            <a:off x="548640" y="3703320"/>
            <a:ext cx="34747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kpi 4 value"/>
          <p:cNvSpPr txBox="1"/>
          <p:nvPr/>
        </p:nvSpPr>
        <p:spPr>
          <a:xfrm>
            <a:off x="777240" y="3886200"/>
            <a:ext cx="3017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85.1%</a:t>
            </a:r>
            <a:endParaRPr lang="en-US" sz="3600" dirty="0"/>
          </a:p>
        </p:txBody>
      </p:sp>
      <p:sp>
        <p:nvSpPr>
          <p:cNvPr id="14" name="kpi 4 label"/>
          <p:cNvSpPr txBox="1"/>
          <p:nvPr/>
        </p:nvSpPr>
        <p:spPr>
          <a:xfrm>
            <a:off x="777240" y="49149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booked value actually realized</a:t>
            </a:r>
            <a:endParaRPr lang="en-US" sz="1400" dirty="0"/>
          </a:p>
        </p:txBody>
      </p:sp>
      <p:sp>
        <p:nvSpPr>
          <p:cNvPr id="15" name="kpi 5 card"/>
          <p:cNvSpPr/>
          <p:nvPr/>
        </p:nvSpPr>
        <p:spPr>
          <a:xfrm>
            <a:off x="4297680" y="3703320"/>
            <a:ext cx="34747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kpi 5 value"/>
          <p:cNvSpPr txBox="1"/>
          <p:nvPr/>
        </p:nvSpPr>
        <p:spPr>
          <a:xfrm>
            <a:off x="4526280" y="3886200"/>
            <a:ext cx="3017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24.8%</a:t>
            </a:r>
            <a:endParaRPr lang="en-US" sz="3600" dirty="0"/>
          </a:p>
        </p:txBody>
      </p:sp>
      <p:sp>
        <p:nvSpPr>
          <p:cNvPr id="17" name="kpi 5 label"/>
          <p:cNvSpPr txBox="1"/>
          <p:nvPr/>
        </p:nvSpPr>
        <p:spPr>
          <a:xfrm>
            <a:off x="4526280" y="49149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bookings cancelled</a:t>
            </a:r>
            <a:endParaRPr lang="en-US" sz="1400" dirty="0"/>
          </a:p>
        </p:txBody>
      </p:sp>
      <p:sp>
        <p:nvSpPr>
          <p:cNvPr id="18" name="kpi 6 card"/>
          <p:cNvSpPr/>
          <p:nvPr/>
        </p:nvSpPr>
        <p:spPr>
          <a:xfrm>
            <a:off x="8046720" y="3703320"/>
            <a:ext cx="34747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kpi 6 value"/>
          <p:cNvSpPr txBox="1"/>
          <p:nvPr/>
        </p:nvSpPr>
        <p:spPr>
          <a:xfrm>
            <a:off x="8275320" y="3886200"/>
            <a:ext cx="3017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3.62 / 5</a:t>
            </a:r>
            <a:endParaRPr lang="en-US" sz="3600" dirty="0"/>
          </a:p>
        </p:txBody>
      </p:sp>
      <p:sp>
        <p:nvSpPr>
          <p:cNvPr id="20" name="kpi 6 label"/>
          <p:cNvSpPr txBox="1"/>
          <p:nvPr/>
        </p:nvSpPr>
        <p:spPr>
          <a:xfrm>
            <a:off x="8275320" y="49149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rating (only 42% of guests rate)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Weekends are full; weekdays are half empty</a:t>
            </a:r>
            <a:endParaRPr lang="en-US" sz="3200" dirty="0"/>
          </a:p>
        </p:txBody>
      </p:sp>
      <p:graphicFrame>
        <p:nvGraphicFramePr>
          <p:cNvPr id="3" name="weekday weekend chart" descr=""/>
          <p:cNvGraphicFramePr/>
          <p:nvPr/>
        </p:nvGraphicFramePr>
        <p:xfrm>
          <a:off x="548640" y="1280160"/>
          <a:ext cx="62179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gap card"/>
          <p:cNvSpPr/>
          <p:nvPr/>
        </p:nvSpPr>
        <p:spPr>
          <a:xfrm>
            <a:off x="7223760" y="1463040"/>
            <a:ext cx="43891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gap value"/>
          <p:cNvSpPr txBox="1"/>
          <p:nvPr/>
        </p:nvSpPr>
        <p:spPr>
          <a:xfrm>
            <a:off x="7452360" y="16459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pts</a:t>
            </a:r>
            <a:endParaRPr lang="en-US" sz="3600" dirty="0"/>
          </a:p>
        </p:txBody>
      </p:sp>
      <p:sp>
        <p:nvSpPr>
          <p:cNvPr id="6" name="gap label"/>
          <p:cNvSpPr txBox="1"/>
          <p:nvPr/>
        </p:nvSpPr>
        <p:spPr>
          <a:xfrm>
            <a:off x="7452360" y="251460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gap between weekend and weekday occupancy</a:t>
            </a:r>
            <a:endParaRPr lang="en-US" sz="1400" dirty="0"/>
          </a:p>
        </p:txBody>
      </p:sp>
      <p:sp>
        <p:nvSpPr>
          <p:cNvPr id="7" name="weekday share card"/>
          <p:cNvSpPr/>
          <p:nvPr/>
        </p:nvSpPr>
        <p:spPr>
          <a:xfrm>
            <a:off x="7223760" y="3474720"/>
            <a:ext cx="43891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weekday share value"/>
          <p:cNvSpPr txBox="1"/>
          <p:nvPr/>
        </p:nvSpPr>
        <p:spPr>
          <a:xfrm>
            <a:off x="7452360" y="3657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3600" dirty="0"/>
          </a:p>
        </p:txBody>
      </p:sp>
      <p:sp>
        <p:nvSpPr>
          <p:cNvPr id="9" name="weekday share label"/>
          <p:cNvSpPr txBox="1"/>
          <p:nvPr/>
        </p:nvSpPr>
        <p:spPr>
          <a:xfrm>
            <a:off x="7452360" y="452628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all available room-nights fall on weekdays</a:t>
            </a:r>
            <a:endParaRPr lang="en-US" sz="1400" dirty="0"/>
          </a:p>
        </p:txBody>
      </p:sp>
      <p:sp>
        <p:nvSpPr>
          <p:cNvPr id="10" name="weekday estimate"/>
          <p:cNvSpPr txBox="1"/>
          <p:nvPr/>
        </p:nvSpPr>
        <p:spPr>
          <a:xfrm>
            <a:off x="7223760" y="54406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Every 5-point lift in weekday occupancy ≈ 8,200 more bookings, about ₹10 Cr a quarter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Mumbai earns the most; Delhi fills the best</a:t>
            </a:r>
            <a:endParaRPr lang="en-US" sz="3200" dirty="0"/>
          </a:p>
        </p:txBody>
      </p:sp>
      <p:graphicFrame>
        <p:nvGraphicFramePr>
          <p:cNvPr id="3" name="city revenue chart" descr=""/>
          <p:cNvGraphicFramePr/>
          <p:nvPr/>
        </p:nvGraphicFramePr>
        <p:xfrm>
          <a:off x="548640" y="1280160"/>
          <a:ext cx="56692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50292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1097280"/>
                <a:gridCol w="100584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Hotels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Occupancy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RevPAR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Rating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Mumbai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57.9%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₹8,908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3.65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Bangalore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55.8%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₹7,334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3.41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Hyderabad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58.1%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₹5,414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3.66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Delhi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9A227"/>
                          </a:solidFill>
                        </a:rPr>
                        <a:t>60.5%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₹7,364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9A227"/>
                          </a:solidFill>
                        </a:rPr>
                        <a:t>3.78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ity takeaway"/>
          <p:cNvSpPr txBox="1"/>
          <p:nvPr/>
        </p:nvSpPr>
        <p:spPr>
          <a:xfrm>
            <a:off x="6583680" y="39319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Delhi has the fewest hotels but the highest occupancy and ratings: a case for adding capacity there. Mumbai's RevPAR leads; Hyderabad's lags.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Guest ratings move almost perfectly with occupancy</a:t>
            </a:r>
            <a:endParaRPr lang="en-US" sz="3200" dirty="0"/>
          </a:p>
        </p:txBody>
      </p:sp>
      <p:graphicFrame>
        <p:nvGraphicFramePr>
          <p:cNvPr id="3" name="rating scatter" descr=""/>
          <p:cNvGraphicFramePr/>
          <p:nvPr/>
        </p:nvGraphicFramePr>
        <p:xfrm>
          <a:off x="548640" y="1280160"/>
          <a:ext cx="64008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ier 1 card"/>
          <p:cNvSpPr/>
          <p:nvPr/>
        </p:nvSpPr>
        <p:spPr>
          <a:xfrm>
            <a:off x="7315200" y="1371600"/>
            <a:ext cx="4297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ier 1 text"/>
          <p:cNvSpPr txBox="1"/>
          <p:nvPr/>
        </p:nvSpPr>
        <p:spPr>
          <a:xfrm>
            <a:off x="7543800" y="15087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4.28</a:t>
            </a:r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</a:rPr>
              <a:t>12 high-rated hotels: average rating → occupancy</a:t>
            </a:r>
            <a:endParaRPr lang="en-US" sz="2600" dirty="0"/>
          </a:p>
        </p:txBody>
      </p:sp>
      <p:sp>
        <p:nvSpPr>
          <p:cNvPr id="6" name="tier 2 card"/>
          <p:cNvSpPr/>
          <p:nvPr/>
        </p:nvSpPr>
        <p:spPr>
          <a:xfrm>
            <a:off x="7315200" y="2880360"/>
            <a:ext cx="4297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ier 2 text"/>
          <p:cNvSpPr txBox="1"/>
          <p:nvPr/>
        </p:nvSpPr>
        <p:spPr>
          <a:xfrm>
            <a:off x="7543800" y="3017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3.05</a:t>
            </a:r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</a:rPr>
              <a:t>9 mid-rated hotels: average rating → occupancy</a:t>
            </a:r>
            <a:endParaRPr lang="en-US" sz="2600" dirty="0"/>
          </a:p>
        </p:txBody>
      </p:sp>
      <p:sp>
        <p:nvSpPr>
          <p:cNvPr id="8" name="tier 3 card"/>
          <p:cNvSpPr/>
          <p:nvPr/>
        </p:nvSpPr>
        <p:spPr>
          <a:xfrm>
            <a:off x="7315200" y="4389120"/>
            <a:ext cx="4297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ier 3 text"/>
          <p:cNvSpPr txBox="1"/>
          <p:nvPr/>
        </p:nvSpPr>
        <p:spPr>
          <a:xfrm>
            <a:off x="7543800" y="4526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2.34</a:t>
            </a:r>
            <a:pPr indent="0" marL="0">
              <a:buNone/>
            </a:pPr>
            <a:r>
              <a:rPr lang="en-US" sz="2600" b="1" dirty="0">
                <a:solidFill>
                  <a:srgbClr val="B55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2600" b="1" dirty="0">
                <a:solidFill>
                  <a:srgbClr val="B55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26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</a:rPr>
              <a:t>4 low-rated hotels: average rating → occupancy</a:t>
            </a:r>
            <a:endParaRPr lang="en-US" sz="2600" dirty="0"/>
          </a:p>
        </p:txBody>
      </p:sp>
      <p:sp>
        <p:nvSpPr>
          <p:cNvPr id="10" name="tier note"/>
          <p:cNvSpPr txBox="1"/>
          <p:nvPr/>
        </p:nvSpPr>
        <p:spPr>
          <a:xfrm>
            <a:off x="7315200" y="5897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r = 0.998 · Low tier: Atliq Seasons &amp; Atliq Bay (Mumbai), Atliq Exotica (Hyderabad), Atliq Grands (Bangalore)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Cancellations are the biggest revenue leak</a:t>
            </a:r>
            <a:endParaRPr lang="en-US" sz="3200" dirty="0"/>
          </a:p>
        </p:txBody>
      </p:sp>
      <p:graphicFrame>
        <p:nvGraphicFramePr>
          <p:cNvPr id="3" name="status chart" descr=""/>
          <p:cNvGraphicFramePr/>
          <p:nvPr/>
        </p:nvGraphicFramePr>
        <p:xfrm>
          <a:off x="548640" y="12801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ak card"/>
          <p:cNvSpPr/>
          <p:nvPr/>
        </p:nvSpPr>
        <p:spPr>
          <a:xfrm>
            <a:off x="7680960" y="146304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eak value"/>
          <p:cNvSpPr txBox="1"/>
          <p:nvPr/>
        </p:nvSpPr>
        <p:spPr>
          <a:xfrm>
            <a:off x="7909560" y="1645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₹29.9 Cr</a:t>
            </a:r>
            <a:endParaRPr lang="en-US" sz="3600" dirty="0"/>
          </a:p>
        </p:txBody>
      </p:sp>
      <p:sp>
        <p:nvSpPr>
          <p:cNvPr id="6" name="leak label"/>
          <p:cNvSpPr txBox="1"/>
          <p:nvPr/>
        </p:nvSpPr>
        <p:spPr>
          <a:xfrm>
            <a:off x="7909560" y="237744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booked but never realized</a:t>
            </a:r>
            <a:endParaRPr lang="en-US" sz="1400" dirty="0"/>
          </a:p>
        </p:txBody>
      </p:sp>
      <p:sp>
        <p:nvSpPr>
          <p:cNvPr id="7" name="kept card"/>
          <p:cNvSpPr/>
          <p:nvPr/>
        </p:nvSpPr>
        <p:spPr>
          <a:xfrm>
            <a:off x="7680960" y="315468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kept value"/>
          <p:cNvSpPr txBox="1"/>
          <p:nvPr/>
        </p:nvSpPr>
        <p:spPr>
          <a:xfrm>
            <a:off x="7909560" y="3337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600" dirty="0"/>
          </a:p>
        </p:txBody>
      </p:sp>
      <p:sp>
        <p:nvSpPr>
          <p:cNvPr id="9" name="kept label"/>
          <p:cNvSpPr txBox="1"/>
          <p:nvPr/>
        </p:nvSpPr>
        <p:spPr>
          <a:xfrm>
            <a:off x="7909560" y="406908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a cancelled booking's value is kept</a:t>
            </a:r>
            <a:endParaRPr lang="en-US" sz="1400" dirty="0"/>
          </a:p>
        </p:txBody>
      </p:sp>
      <p:sp>
        <p:nvSpPr>
          <p:cNvPr id="10" name="platform cancel card"/>
          <p:cNvSpPr/>
          <p:nvPr/>
        </p:nvSpPr>
        <p:spPr>
          <a:xfrm>
            <a:off x="7680960" y="4846320"/>
            <a:ext cx="39319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latform cancel value"/>
          <p:cNvSpPr txBox="1"/>
          <p:nvPr/>
        </p:nvSpPr>
        <p:spPr>
          <a:xfrm>
            <a:off x="7909560" y="5029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≈25%</a:t>
            </a:r>
            <a:endParaRPr lang="en-US" sz="3600" dirty="0"/>
          </a:p>
        </p:txBody>
      </p:sp>
      <p:sp>
        <p:nvSpPr>
          <p:cNvPr id="12" name="platform cancel label"/>
          <p:cNvSpPr txBox="1"/>
          <p:nvPr/>
        </p:nvSpPr>
        <p:spPr>
          <a:xfrm>
            <a:off x="7909560" y="56692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cancellation rate on every platform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Only 15% of bookings come direct</a:t>
            </a:r>
            <a:endParaRPr lang="en-US" sz="3200" dirty="0"/>
          </a:p>
        </p:txBody>
      </p:sp>
      <p:graphicFrame>
        <p:nvGraphicFramePr>
          <p:cNvPr id="3" name="platform chart" descr=""/>
          <p:cNvGraphicFramePr/>
          <p:nvPr/>
        </p:nvGraphicFramePr>
        <p:xfrm>
          <a:off x="548640" y="12801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hird party icon circle"/>
          <p:cNvSpPr/>
          <p:nvPr/>
        </p:nvSpPr>
        <p:spPr>
          <a:xfrm>
            <a:off x="768096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third part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91640"/>
            <a:ext cx="274320" cy="274320"/>
          </a:xfrm>
          <a:prstGeom prst="rect">
            <a:avLst/>
          </a:prstGeom>
        </p:spPr>
      </p:pic>
      <p:sp>
        <p:nvSpPr>
          <p:cNvPr id="6" name="third party text"/>
          <p:cNvSpPr txBox="1"/>
          <p:nvPr/>
        </p:nvSpPr>
        <p:spPr>
          <a:xfrm>
            <a:off x="8412480" y="1508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85% via third parties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"Others" alone brings 41% of bookings, so it's worth breaking down further</a:t>
            </a:r>
            <a:endParaRPr lang="en-US" sz="1600" dirty="0"/>
          </a:p>
        </p:txBody>
      </p:sp>
      <p:sp>
        <p:nvSpPr>
          <p:cNvPr id="7" name="same behaviour icon circle"/>
          <p:cNvSpPr/>
          <p:nvPr/>
        </p:nvSpPr>
        <p:spPr>
          <a:xfrm>
            <a:off x="7680960" y="3108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same behaviou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246120"/>
            <a:ext cx="274320" cy="274320"/>
          </a:xfrm>
          <a:prstGeom prst="rect">
            <a:avLst/>
          </a:prstGeom>
        </p:spPr>
      </p:pic>
      <p:sp>
        <p:nvSpPr>
          <p:cNvPr id="9" name="same behaviour text"/>
          <p:cNvSpPr txBox="1"/>
          <p:nvPr/>
        </p:nvSpPr>
        <p:spPr>
          <a:xfrm>
            <a:off x="8412480" y="3063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Same guests, same behaviour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Cancellation (~25%) and ratings (3.62) are identical across platforms</a:t>
            </a:r>
            <a:endParaRPr lang="en-US" sz="1600" dirty="0"/>
          </a:p>
        </p:txBody>
      </p:sp>
      <p:sp>
        <p:nvSpPr>
          <p:cNvPr id="10" name="commission icon circle"/>
          <p:cNvSpPr/>
          <p:nvPr/>
        </p:nvSpPr>
        <p:spPr>
          <a:xfrm>
            <a:off x="7680960" y="4663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ommission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800600"/>
            <a:ext cx="274320" cy="274320"/>
          </a:xfrm>
          <a:prstGeom prst="rect">
            <a:avLst/>
          </a:prstGeom>
        </p:spPr>
      </p:pic>
      <p:sp>
        <p:nvSpPr>
          <p:cNvPr id="12" name="commission text"/>
          <p:cNvSpPr txBox="1"/>
          <p:nvPr/>
        </p:nvSpPr>
        <p:spPr>
          <a:xfrm>
            <a:off x="8412480" y="4617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Room to save on commission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booking moved direct avoids an agency fee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the course notebook missed, and why it matters</a:t>
            </a:r>
            <a:endParaRPr lang="en-US" sz="3200" dirty="0"/>
          </a:p>
        </p:txBody>
      </p:sp>
      <p:graphicFrame>
        <p:nvGraphicFramePr>
          <p:cNvPr id="10" name="dq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1148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Course notebook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Corrected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Revenue in the monthly view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5523B"/>
                          </a:solidFill>
                        </a:rPr>
                        <a:t>₹117.6 Cr (31% missing)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₹170.9 Cr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Days used for occupancy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5523B"/>
                          </a:solidFill>
                        </a:rPr>
                        <a:t>10th–31st only (29% of rows dropped)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All 92 days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Weekday / weekend occupancy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50.9% / 72.3%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51.3% / 73.6%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Missing capacity filled with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Overall median: 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Property's own: 26 and 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Occupancy method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Average of daily % (58.3%)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Rooms booked ÷ available (57.9%)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August data appended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15 columns, % column unmatched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13 aligned columns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oot cause icon circle"/>
          <p:cNvSpPr/>
          <p:nvPr/>
        </p:nvSpPr>
        <p:spPr>
          <a:xfrm>
            <a:off x="548640" y="5120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oot cau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257800"/>
            <a:ext cx="274320" cy="274320"/>
          </a:xfrm>
          <a:prstGeom prst="rect">
            <a:avLst/>
          </a:prstGeom>
        </p:spPr>
      </p:pic>
      <p:sp>
        <p:nvSpPr>
          <p:cNvPr id="6" name="root cause text"/>
          <p:cNvSpPr txBox="1"/>
          <p:nvPr/>
        </p:nvSpPr>
        <p:spPr>
          <a:xfrm>
            <a:off x="1280160" y="5074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Root cause: dates stored as text in different formats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'1-May-22' never matched '01-May-22', and '1/5/2022' (1 May) was read as 5 January. No error appeared either time.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Where I'd focus next</a:t>
            </a:r>
            <a:endParaRPr lang="en-US" sz="3200" dirty="0"/>
          </a:p>
        </p:txBody>
      </p:sp>
      <p:sp>
        <p:nvSpPr>
          <p:cNvPr id="3" name="rec 1 icon circle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rec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274320" cy="274320"/>
          </a:xfrm>
          <a:prstGeom prst="rect">
            <a:avLst/>
          </a:prstGeom>
        </p:spPr>
      </p:pic>
      <p:sp>
        <p:nvSpPr>
          <p:cNvPr id="5" name="rec 1 text"/>
          <p:cNvSpPr txBox="1"/>
          <p:nvPr/>
        </p:nvSpPr>
        <p:spPr>
          <a:xfrm>
            <a:off x="1280160" y="14173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Fill weekdays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Corporate rates, weekday packages and events. +5 pts ≈ ₹10 Cr a quarter</a:t>
            </a:r>
            <a:endParaRPr lang="en-US" sz="1600" dirty="0"/>
          </a:p>
        </p:txBody>
      </p:sp>
      <p:sp>
        <p:nvSpPr>
          <p:cNvPr id="6" name="rec 2 icon circle"/>
          <p:cNvSpPr/>
          <p:nvPr/>
        </p:nvSpPr>
        <p:spPr>
          <a:xfrm>
            <a:off x="626364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rec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274320" cy="274320"/>
          </a:xfrm>
          <a:prstGeom prst="rect">
            <a:avLst/>
          </a:prstGeom>
        </p:spPr>
      </p:pic>
      <p:sp>
        <p:nvSpPr>
          <p:cNvPr id="8" name="rec 2 text"/>
          <p:cNvSpPr txBox="1"/>
          <p:nvPr/>
        </p:nvSpPr>
        <p:spPr>
          <a:xfrm>
            <a:off x="6995160" y="14173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Fix the four low-rated hotels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 guest feedback and service. Mid-tier occupancy ≈ ₹4.3 Cr a quarter</a:t>
            </a:r>
            <a:endParaRPr lang="en-US" sz="1600" dirty="0"/>
          </a:p>
        </p:txBody>
      </p:sp>
      <p:sp>
        <p:nvSpPr>
          <p:cNvPr id="9" name="rec 3 icon circle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rec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00400"/>
            <a:ext cx="274320" cy="274320"/>
          </a:xfrm>
          <a:prstGeom prst="rect">
            <a:avLst/>
          </a:prstGeom>
        </p:spPr>
      </p:pic>
      <p:sp>
        <p:nvSpPr>
          <p:cNvPr id="11" name="rec 3 text"/>
          <p:cNvSpPr txBox="1"/>
          <p:nvPr/>
        </p:nvSpPr>
        <p:spPr>
          <a:xfrm>
            <a:off x="1280160" y="30175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Reduce cancellations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Prepaid non-refundable rates, reminders before arrival, and smarter overbooking</a:t>
            </a:r>
            <a:endParaRPr lang="en-US" sz="1600" dirty="0"/>
          </a:p>
        </p:txBody>
      </p:sp>
      <p:sp>
        <p:nvSpPr>
          <p:cNvPr id="12" name="rec 4 icon circle"/>
          <p:cNvSpPr/>
          <p:nvPr/>
        </p:nvSpPr>
        <p:spPr>
          <a:xfrm>
            <a:off x="6263640" y="3063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rec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200400"/>
            <a:ext cx="274320" cy="274320"/>
          </a:xfrm>
          <a:prstGeom prst="rect">
            <a:avLst/>
          </a:prstGeom>
        </p:spPr>
      </p:pic>
      <p:sp>
        <p:nvSpPr>
          <p:cNvPr id="14" name="rec 4 text"/>
          <p:cNvSpPr txBox="1"/>
          <p:nvPr/>
        </p:nvSpPr>
        <p:spPr>
          <a:xfrm>
            <a:off x="6995160" y="30175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Grow direct bookings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Loyalty perks and best-rate guarantees, starting with the 41% booked via "others"</a:t>
            </a:r>
            <a:endParaRPr lang="en-US" sz="1600" dirty="0"/>
          </a:p>
        </p:txBody>
      </p:sp>
      <p:sp>
        <p:nvSpPr>
          <p:cNvPr id="15" name="rec 5 icon circle"/>
          <p:cNvSpPr/>
          <p:nvPr/>
        </p:nvSpPr>
        <p:spPr>
          <a:xfrm>
            <a:off x="548640" y="4663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rec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800600"/>
            <a:ext cx="274320" cy="274320"/>
          </a:xfrm>
          <a:prstGeom prst="rect">
            <a:avLst/>
          </a:prstGeom>
        </p:spPr>
      </p:pic>
      <p:sp>
        <p:nvSpPr>
          <p:cNvPr id="17" name="rec 5 text"/>
          <p:cNvSpPr txBox="1"/>
          <p:nvPr/>
        </p:nvSpPr>
        <p:spPr>
          <a:xfrm>
            <a:off x="1280160" y="46177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Invest where demand is proven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Delhi: highest occupancy and ratings, with the fewest hotels</a:t>
            </a:r>
            <a:endParaRPr lang="en-US" sz="1600" dirty="0"/>
          </a:p>
        </p:txBody>
      </p:sp>
      <p:sp>
        <p:nvSpPr>
          <p:cNvPr id="18" name="rec 6 icon circle"/>
          <p:cNvSpPr/>
          <p:nvPr/>
        </p:nvSpPr>
        <p:spPr>
          <a:xfrm>
            <a:off x="6263640" y="4663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rec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800600"/>
            <a:ext cx="274320" cy="274320"/>
          </a:xfrm>
          <a:prstGeom prst="rect">
            <a:avLst/>
          </a:prstGeom>
        </p:spPr>
      </p:pic>
      <p:sp>
        <p:nvSpPr>
          <p:cNvPr id="20" name="rec 6 text"/>
          <p:cNvSpPr txBox="1"/>
          <p:nvPr/>
        </p:nvSpPr>
        <p:spPr>
          <a:xfrm>
            <a:off x="6995160" y="46177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Ask more guests to rate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42% leave a rating, yet ratings track occupancy closely</a:t>
            </a:r>
            <a:endParaRPr lang="en-US" sz="1600" dirty="0"/>
          </a:p>
        </p:txBody>
      </p:sp>
      <p:sp>
        <p:nvSpPr>
          <p:cNvPr id="21" name="estimate note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Opportunity sizes are rough estimates: extra bookings × average realized revenue per booking (₹12,696).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this project taught me</a:t>
            </a:r>
            <a:endParaRPr lang="en-US" sz="3600" dirty="0"/>
          </a:p>
        </p:txBody>
      </p:sp>
      <p:sp>
        <p:nvSpPr>
          <p:cNvPr id="3" name="lesson 1 circle"/>
          <p:cNvSpPr/>
          <p:nvPr/>
        </p:nvSpPr>
        <p:spPr>
          <a:xfrm>
            <a:off x="731520" y="21031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less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365760" cy="365760"/>
          </a:xfrm>
          <a:prstGeom prst="rect">
            <a:avLst/>
          </a:prstGeom>
        </p:spPr>
      </p:pic>
      <p:sp>
        <p:nvSpPr>
          <p:cNvPr id="5" name="lesson 1 text"/>
          <p:cNvSpPr txBox="1"/>
          <p:nvPr/>
        </p:nvSpPr>
        <p:spPr>
          <a:xfrm>
            <a:off x="731520" y="31089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Reconcile before you report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 clean-looking chart hid 31% of revenue. Totals that tie out are the first test.</a:t>
            </a:r>
            <a:endParaRPr lang="en-US" sz="2000" dirty="0"/>
          </a:p>
        </p:txBody>
      </p:sp>
      <p:sp>
        <p:nvSpPr>
          <p:cNvPr id="6" name="lesson 2 circle"/>
          <p:cNvSpPr/>
          <p:nvPr/>
        </p:nvSpPr>
        <p:spPr>
          <a:xfrm>
            <a:off x="4389120" y="21031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less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365760" cy="365760"/>
          </a:xfrm>
          <a:prstGeom prst="rect">
            <a:avLst/>
          </a:prstGeom>
        </p:spPr>
      </p:pic>
      <p:sp>
        <p:nvSpPr>
          <p:cNvPr id="8" name="lesson 2 text"/>
          <p:cNvSpPr txBox="1"/>
          <p:nvPr/>
        </p:nvSpPr>
        <p:spPr>
          <a:xfrm>
            <a:off x="4389120" y="31089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Dates are data traps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Two formats and one month-first guess dropped thousands of rows without any warning.</a:t>
            </a:r>
            <a:endParaRPr lang="en-US" sz="2000" dirty="0"/>
          </a:p>
        </p:txBody>
      </p:sp>
      <p:sp>
        <p:nvSpPr>
          <p:cNvPr id="9" name="lesson 3 circle"/>
          <p:cNvSpPr/>
          <p:nvPr/>
        </p:nvSpPr>
        <p:spPr>
          <a:xfrm>
            <a:off x="8046720" y="21031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less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86000"/>
            <a:ext cx="365760" cy="365760"/>
          </a:xfrm>
          <a:prstGeom prst="rect">
            <a:avLst/>
          </a:prstGeom>
        </p:spPr>
      </p:pic>
      <p:sp>
        <p:nvSpPr>
          <p:cNvPr id="11" name="lesson 3 text"/>
          <p:cNvSpPr txBox="1"/>
          <p:nvPr/>
        </p:nvSpPr>
        <p:spPr>
          <a:xfrm>
            <a:off x="8046720" y="31089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Audit habits transfer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Profiling, completeness checks and documented judgments work as well on hotels as on ledgers.</a:t>
            </a:r>
            <a:endParaRPr lang="en-US" sz="2000" dirty="0"/>
          </a:p>
        </p:txBody>
      </p:sp>
      <p:sp>
        <p:nvSpPr>
          <p:cNvPr id="12" name="thanks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Thank you · Code, notebook and README on GitHub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iQ Hospitality">
  <a:themeElements>
    <a:clrScheme name="AtliQ Hospitality">
      <a:dk1>
        <a:srgbClr val="1B1F2A"/>
      </a:dk1>
      <a:lt1>
        <a:srgbClr val="FFFFFF"/>
      </a:lt1>
      <a:dk2>
        <a:srgbClr val="1F2A44"/>
      </a:dk2>
      <a:lt2>
        <a:srgbClr val="EEF1F6"/>
      </a:lt2>
      <a:accent1>
        <a:srgbClr val="C9A227"/>
      </a:accent1>
      <a:accent2>
        <a:srgbClr val="1F2A44"/>
      </a:accent2>
      <a:accent3>
        <a:srgbClr val="B5523B"/>
      </a:accent3>
      <a:accent4>
        <a:srgbClr val="9AA5B1"/>
      </a:accent4>
      <a:accent5>
        <a:srgbClr val="4E8F6A"/>
      </a:accent5>
      <a:accent6>
        <a:srgbClr val="2E6F95"/>
      </a:accent6>
      <a:hlink>
        <a:srgbClr val="2E6F95"/>
      </a:hlink>
      <a:folHlink>
        <a:srgbClr val="6B4E9B"/>
      </a:folHlink>
    </a:clrScheme>
    <a:fontScheme name="AtliQ Hospital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AtliQ Grands: what 134,573 bookings reveal</dc:title>
  <dc:subject>PptxGenJS Presentation</dc:subject>
  <dc:creator>Saurabh S</dc:creator>
  <cp:lastModifiedBy>Saurabh S</cp:lastModifiedBy>
  <cp:revision>1</cp:revision>
  <dcterms:created xsi:type="dcterms:W3CDTF">2026-10-31T13:53:37Z</dcterms:created>
  <dcterms:modified xsi:type="dcterms:W3CDTF">2026-10-31T13:53:37Z</dcterms:modified>
</cp:coreProperties>
</file>